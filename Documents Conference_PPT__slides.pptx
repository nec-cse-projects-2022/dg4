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0" r:id="rId11"/>
    <p:sldId id="271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Neue Haas Grotesk Text Pro" panose="020B0504020202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18288000" cy="2367724"/>
            <a:chOff x="1219199" y="-1"/>
            <a:chExt cx="24384000" cy="3156966"/>
          </a:xfrm>
        </p:grpSpPr>
        <p:sp>
          <p:nvSpPr>
            <p:cNvPr id="3" name="Freeform 3"/>
            <p:cNvSpPr/>
            <p:nvPr/>
          </p:nvSpPr>
          <p:spPr>
            <a:xfrm>
              <a:off x="1219199" y="-1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B13B83-956F-3B47-EB27-708331646890}"/>
              </a:ext>
            </a:extLst>
          </p:cNvPr>
          <p:cNvSpPr txBox="1"/>
          <p:nvPr/>
        </p:nvSpPr>
        <p:spPr>
          <a:xfrm>
            <a:off x="4254796" y="1977171"/>
            <a:ext cx="10609520" cy="18466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BREAST CANCER SURVIVAL AN APPROACH USING DEEP LEARNING AND MACHINE LEARNING TECHNIQUES</a:t>
            </a:r>
          </a:p>
          <a:p>
            <a:r>
              <a:rPr lang="en-US" sz="2400" b="1" dirty="0">
                <a:latin typeface="Times New Roman"/>
                <a:cs typeface="Times New Roman"/>
              </a:rPr>
              <a:t> </a:t>
            </a:r>
            <a:endParaRPr lang="en-IN" sz="2400" b="1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404E3-2279-A453-F04B-189DEC71AE20}"/>
              </a:ext>
            </a:extLst>
          </p:cNvPr>
          <p:cNvSpPr txBox="1"/>
          <p:nvPr/>
        </p:nvSpPr>
        <p:spPr>
          <a:xfrm>
            <a:off x="6172200" y="1601025"/>
            <a:ext cx="90678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CMT Paper ID: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i="1" dirty="0">
                <a:latin typeface="Times New Roman"/>
                <a:cs typeface="Times New Roman"/>
              </a:rPr>
              <a:t>206</a:t>
            </a: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EBE9C-0BFD-1DA5-9C32-6471C5E5493D}"/>
              </a:ext>
            </a:extLst>
          </p:cNvPr>
          <p:cNvSpPr txBox="1"/>
          <p:nvPr/>
        </p:nvSpPr>
        <p:spPr>
          <a:xfrm>
            <a:off x="1515979" y="3823829"/>
            <a:ext cx="4138863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Name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 Sekhar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Kolisetty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Chennupalli Chandrika Tirumala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Kodavati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Jayamma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Parlapalli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  Haseena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Kathi Chandra Mouli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Anitha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Vulugundam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Narasaraopet Engineering College (1,2,3,4)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Dept. of CSE, GRIET (5)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Dept. of ETM, GNITS (6)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D9CB8-8B6F-3241-7B1F-9723D817B6B1}"/>
              </a:ext>
            </a:extLst>
          </p:cNvPr>
          <p:cNvSpPr txBox="1"/>
          <p:nvPr/>
        </p:nvSpPr>
        <p:spPr>
          <a:xfrm>
            <a:off x="11887200" y="3407033"/>
            <a:ext cx="365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2000" dirty="0"/>
              <a:t>Chennupalli Chandrika Tirumala</a:t>
            </a:r>
          </a:p>
          <a:p>
            <a:endParaRPr lang="en-IN" sz="2000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 </a:t>
            </a:r>
          </a:p>
          <a:p>
            <a:r>
              <a:rPr lang="en-IN" sz="2000" dirty="0">
                <a:cs typeface="Times New Roman" panose="02020603050405020304" pitchFamily="18" charset="0"/>
              </a:rPr>
              <a:t>  </a:t>
            </a:r>
            <a:r>
              <a:rPr lang="en-IN" sz="2000" dirty="0" err="1">
                <a:cs typeface="Times New Roman" panose="02020603050405020304" pitchFamily="18" charset="0"/>
              </a:rPr>
              <a:t>Kodavati</a:t>
            </a:r>
            <a:r>
              <a:rPr lang="en-IN" sz="2000" dirty="0">
                <a:cs typeface="Times New Roman" panose="02020603050405020304" pitchFamily="18" charset="0"/>
              </a:rPr>
              <a:t>   Jayamma</a:t>
            </a:r>
          </a:p>
          <a:p>
            <a:r>
              <a:rPr lang="en-US" sz="2000" dirty="0">
                <a:ea typeface="+mn-lt"/>
                <a:cs typeface="+mn-lt"/>
              </a:rPr>
              <a:t>  </a:t>
            </a:r>
            <a:r>
              <a:rPr lang="en-US" sz="2000" dirty="0" err="1">
                <a:ea typeface="+mn-lt"/>
                <a:cs typeface="+mn-lt"/>
              </a:rPr>
              <a:t>Parlapalli</a:t>
            </a:r>
            <a:r>
              <a:rPr lang="en-US" sz="2000" dirty="0">
                <a:ea typeface="+mn-lt"/>
                <a:cs typeface="+mn-lt"/>
              </a:rPr>
              <a:t>   Haseena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08F901-D551-E680-4635-D9D6FD773EC7}"/>
              </a:ext>
            </a:extLst>
          </p:cNvPr>
          <p:cNvSpPr txBox="1"/>
          <p:nvPr/>
        </p:nvSpPr>
        <p:spPr>
          <a:xfrm>
            <a:off x="2502195" y="2886063"/>
            <a:ext cx="11213805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Content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❖Introduction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cs typeface="Times New Roman"/>
              </a:rPr>
              <a:t> ❖Problem Statements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❖Objectives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❖Methodology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❖Result &amp; Discussion </a:t>
            </a:r>
          </a:p>
          <a:p>
            <a:r>
              <a:rPr lang="en-IN" sz="2400" dirty="0">
                <a:latin typeface="Times New Roman"/>
                <a:cs typeface="Times New Roman"/>
              </a:rPr>
              <a:t>❖Conclusion &amp; Future Scope</a:t>
            </a:r>
          </a:p>
          <a:p>
            <a:r>
              <a:rPr lang="en-IN" sz="2400" dirty="0">
                <a:latin typeface="Times New Roman"/>
                <a:cs typeface="Times New Roman"/>
              </a:rPr>
              <a:t> ❖References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4647E45C-F1CD-8AB8-9957-B7DBCCACFA03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7C010D4-627D-CA27-185E-14954FB2F1E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2">
            <a:extLst>
              <a:ext uri="{FF2B5EF4-FFF2-40B4-BE49-F238E27FC236}">
                <a16:creationId xmlns:a16="http://schemas.microsoft.com/office/drawing/2014/main" id="{848E0A1D-6337-9BA1-5038-7B939E106F32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018E420-4EB5-58B8-B700-67F8DA732836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A0F901-B708-741F-BC2D-A91D0B1A37D4}"/>
              </a:ext>
            </a:extLst>
          </p:cNvPr>
          <p:cNvSpPr txBox="1"/>
          <p:nvPr/>
        </p:nvSpPr>
        <p:spPr>
          <a:xfrm>
            <a:off x="1447800" y="2552700"/>
            <a:ext cx="12268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one of the most common causes of death among women worldwide.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predict the time until an event (death or relapse) and can handle censored patient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Cox Proportional Hazards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widely used but assumes linear and proportional hazard relationships.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capture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and time-dependent patterns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advanced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are used.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evaluates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 Survival (RFS),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METABRIC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improve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breast cancer survival prediction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and gated mechanisms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47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AA3AA9-150D-5B6A-6000-7FAC87A1FF3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11B54E0-4D80-931C-CF08-983AA24D10F3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4A8DD3A-364A-76C9-30BB-60C94F83B94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B8ED2C8-CBFA-8788-C605-598605C3D68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A07438-20A4-F332-2A37-237AA932FAD1}"/>
              </a:ext>
            </a:extLst>
          </p:cNvPr>
          <p:cNvSpPr txBox="1"/>
          <p:nvPr/>
        </p:nvSpPr>
        <p:spPr>
          <a:xfrm>
            <a:off x="1295399" y="2628900"/>
            <a:ext cx="1352750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remains a major cause of mortality among women, requiring accurate survival prediction for better treatment planning.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like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assume linear and proportional hazards, limiting their ability to capture complex data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nonlinear data but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struggle to learn both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 and long-term dependencies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model that ensures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accuracy, temporal dependency learning, and 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addressed through the proposed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9181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19593B-5DAA-3D0D-03FA-92645CFA99FD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71197A-7237-11B9-4873-8C88EB8A8A5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F286D97-EF1B-6C00-9F18-48BAA359E3C1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37DC82-2543-B446-7638-D5546D3973A7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686CFB-675E-B0B2-9FFC-21547244D806}"/>
              </a:ext>
            </a:extLst>
          </p:cNvPr>
          <p:cNvSpPr txBox="1"/>
          <p:nvPr/>
        </p:nvSpPr>
        <p:spPr>
          <a:xfrm>
            <a:off x="2133600" y="2781300"/>
            <a:ext cx="12420600" cy="46474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breast cancer patient survival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METABRIC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clinical and genomic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performance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(RFS)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survival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and evaluate 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deep learning model that combines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 Layers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short- and long-term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generating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plots and attention heatmaps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identify influential clinical and genomic factors.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balanced framework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improves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accuracy, interpretability, and clinical applicability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breast cancer survival prediction.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7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7DF89D-8956-20F2-EA87-E1B52D20C0D3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629C10-60E5-5088-2888-AA8EC79F2D07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B9B5DD2-F647-3AF7-79B3-57BDDD0A8D0A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B802B9-BD5E-6892-34D9-F0C0B7D26856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9E6A5D7-5EAA-3D6C-0367-15510B791825}"/>
              </a:ext>
            </a:extLst>
          </p:cNvPr>
          <p:cNvSpPr txBox="1"/>
          <p:nvPr/>
        </p:nvSpPr>
        <p:spPr>
          <a:xfrm>
            <a:off x="765124" y="2589039"/>
            <a:ext cx="9413591" cy="66479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Methodology :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b="1" dirty="0">
              <a:latin typeface="Times New Roman"/>
              <a:cs typeface="Times New Roman"/>
            </a:endParaRPr>
          </a:p>
          <a:p>
            <a:r>
              <a:rPr lang="en-US" sz="2400" dirty="0"/>
              <a:t>Proposed Explainable Machine Learning &amp; Deep Learning Framework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1️⃣ </a:t>
            </a:r>
            <a:r>
              <a:rPr lang="en-US" sz="2400" b="1" dirty="0"/>
              <a:t>Data Collection:</a:t>
            </a:r>
            <a:endParaRPr lang="en-US" sz="2400" b="1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study uses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METABRIC (Molecular Taxonomy of Breast Cancer International Consortium)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and genomic 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over 1,900 breast cancer patients.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includes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indicator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representing whether the event (death) occurred or was censored.</a:t>
            </a:r>
          </a:p>
          <a:p>
            <a:r>
              <a:rPr lang="en-US" b="1" dirty="0"/>
              <a:t>2️⃣ </a:t>
            </a:r>
            <a:r>
              <a:rPr lang="en-US" sz="2400" b="1" dirty="0"/>
              <a:t>Data Preprocessing:</a:t>
            </a:r>
            <a:endParaRPr lang="en-US" sz="2400" b="1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Imputed using median or mode values.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Categorical variables are converted to numeric format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variables are scaled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Min–Max normalization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bring all features into a common range.</a:t>
            </a:r>
          </a:p>
          <a:p>
            <a:pPr marL="228600" indent="-228600">
              <a:buFont typeface="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68921-EBA1-1CDE-BAA0-A1FB62A4B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276" y="3664624"/>
            <a:ext cx="6705600" cy="41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0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89B7F9-158C-3412-C57D-AAEF92B962E0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FF0540-BB2A-09AE-1B25-8CE2E02F583C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35117BC-54DD-2C41-0916-8DB3A8A72F9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0A3E2E3-EB94-B5CB-9C8B-E136F44A527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F03CB0-C020-495F-21A9-EA7E93DDB088}"/>
              </a:ext>
            </a:extLst>
          </p:cNvPr>
          <p:cNvSpPr txBox="1"/>
          <p:nvPr/>
        </p:nvSpPr>
        <p:spPr>
          <a:xfrm>
            <a:off x="1754373" y="2578396"/>
            <a:ext cx="11961627" cy="66479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3️⃣ </a:t>
            </a:r>
            <a:r>
              <a:rPr lang="en-US" sz="2400" b="1" dirty="0"/>
              <a:t>Modeling Stage</a:t>
            </a:r>
            <a:endParaRPr lang="en-US" sz="2400" b="1" dirty="0">
              <a:latin typeface="Times New Roman"/>
              <a:cs typeface="Times New 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Cox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Hazards(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semi-parametric model estimating hazard ratios to identify the effect of clinical features on survival.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Survival (RFS):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ensemble-based method capturing nonlinear relationships and generating cumulative hazard functions.</a:t>
            </a: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Self-Attentive Deep Gated Network(SA-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model combining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 Layers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nonlinear feature regulation)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long- and short-term dependency capture).</a:t>
            </a:r>
          </a:p>
          <a:p>
            <a:endParaRPr lang="en-US" sz="2400" dirty="0"/>
          </a:p>
          <a:p>
            <a:r>
              <a:rPr lang="en-US" b="1" dirty="0"/>
              <a:t>4️⃣ </a:t>
            </a:r>
            <a:r>
              <a:rPr lang="en-US" sz="2400" b="1" dirty="0">
                <a:latin typeface="Times New Roman"/>
                <a:cs typeface="Times New Roman"/>
              </a:rPr>
              <a:t>Model  Evaluation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Concordance Index (C-index):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well the model ranks patient survival times.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Kaplan–Meier Curves (KM):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Visualize predicted survival probabilities for high- and low-risk groups.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&amp; Attention Maps: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most influential features contributing to patient survival.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33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1E3C4D-E25A-E9D5-694A-197222156AF1}"/>
              </a:ext>
            </a:extLst>
          </p:cNvPr>
          <p:cNvGrpSpPr/>
          <p:nvPr/>
        </p:nvGrpSpPr>
        <p:grpSpPr>
          <a:xfrm>
            <a:off x="1" y="8863030"/>
            <a:ext cx="18288000" cy="1523524"/>
            <a:chOff x="0" y="0"/>
            <a:chExt cx="24384000" cy="20313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D8B3F2-5881-23FD-E839-6ECD0EF268A1}"/>
                </a:ext>
              </a:extLst>
            </p:cNvPr>
            <p:cNvSpPr/>
            <p:nvPr/>
          </p:nvSpPr>
          <p:spPr>
            <a:xfrm>
              <a:off x="0" y="0"/>
              <a:ext cx="24384000" cy="2031365"/>
            </a:xfrm>
            <a:custGeom>
              <a:avLst/>
              <a:gdLst/>
              <a:ahLst/>
              <a:cxnLst/>
              <a:rect l="l" t="t" r="r" b="b"/>
              <a:pathLst>
                <a:path w="24384000" h="2031365">
                  <a:moveTo>
                    <a:pt x="0" y="0"/>
                  </a:moveTo>
                  <a:lnTo>
                    <a:pt x="24384000" y="0"/>
                  </a:lnTo>
                  <a:lnTo>
                    <a:pt x="24384000" y="2031365"/>
                  </a:lnTo>
                  <a:lnTo>
                    <a:pt x="0" y="203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460" b="-1446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24BA87-4432-8934-1F91-9F6C88719DFB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D1DE807-1489-AC08-575E-752B8994A594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8A9A1CA-FAED-6CE1-4EB3-51DDD65D6D90}"/>
              </a:ext>
            </a:extLst>
          </p:cNvPr>
          <p:cNvSpPr txBox="1"/>
          <p:nvPr/>
        </p:nvSpPr>
        <p:spPr>
          <a:xfrm>
            <a:off x="1564105" y="2574757"/>
            <a:ext cx="7732294" cy="57861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latin typeface="Times New Roman"/>
                <a:cs typeface="Times New Roman"/>
              </a:rPr>
              <a:t>Result &amp; Discussion </a:t>
            </a:r>
          </a:p>
          <a:p>
            <a:endParaRPr lang="en-IN" sz="3200" b="1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 displays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risk (red)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(green)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identified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Cox Proportional Hazards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Cox coefficients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 features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poor survival (high-risk factors).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coefficients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associated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survival outcomes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 burden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observed as the most significant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feature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strong positive coefficient.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TP53, MUC16, and AHNAK2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factors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negative Cox coefficients that suggest a survival advantage.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6" name="AutoShape 2" descr="Uploaded image">
            <a:extLst>
              <a:ext uri="{FF2B5EF4-FFF2-40B4-BE49-F238E27FC236}">
                <a16:creationId xmlns:a16="http://schemas.microsoft.com/office/drawing/2014/main" id="{97450F94-A112-BD7C-DB05-74B90067BF4C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9296399" y="443163"/>
            <a:ext cx="4852737" cy="48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8F2014-9C27-2A60-D55A-E729A7167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842" y="2810887"/>
            <a:ext cx="6906125" cy="480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33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155DCB59-0D61-E48F-107B-8293ECD05B19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6183210-F56B-E86D-C4CA-F5189BDF913A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D7719E8E-D212-C71B-80A3-E2E13A38E621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48947-61F2-8EBB-443C-C437ACD1295C}"/>
              </a:ext>
            </a:extLst>
          </p:cNvPr>
          <p:cNvSpPr txBox="1"/>
          <p:nvPr/>
        </p:nvSpPr>
        <p:spPr>
          <a:xfrm>
            <a:off x="1343527" y="2576764"/>
            <a:ext cx="8402054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Interpretation of Kaplan–Meier Survival Analysis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Kaplan–Meier (KM) curve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probability over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 grouped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based on model predictions.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time, while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the probability of patient survival.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curve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corresponds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group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shows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decline in survival probability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poorer outcomes.</a:t>
            </a: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curve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low-risk group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maintaining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survival probability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throughout the observation period.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clear separation between the two curves demonstrates that the model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differentiates between high- and low-risk patients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validating its prognostic capability.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BCC85-E1AD-7697-A6A9-1E73F0C70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568" y="2791326"/>
            <a:ext cx="5630779" cy="505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0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7A407D-639F-1644-B049-D3422796D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892" y="5135278"/>
            <a:ext cx="6039853" cy="2775775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42C2AF32-00F1-D8D7-2ED0-488B1B1C4FCE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9610A0-1B3D-BE71-9E54-9B16D508B0C8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9FF194F9-8E10-1854-E008-ABDEBCE32AFA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AF8E11-F0C6-D615-E174-9E1647041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3116" y="2375947"/>
            <a:ext cx="6039853" cy="2170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F8B103-04F0-E9EB-2F7F-9EC793DDF4E5}"/>
              </a:ext>
            </a:extLst>
          </p:cNvPr>
          <p:cNvSpPr txBox="1"/>
          <p:nvPr/>
        </p:nvSpPr>
        <p:spPr>
          <a:xfrm>
            <a:off x="825911" y="3141406"/>
            <a:ext cx="890802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 shows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various survival models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METABRIC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proposed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a strong balance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C-index of 0.7590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loss value (0.4352)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improved predictive stability and accuracy over other models.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II presents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C-index 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of various survival prediction models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METABRIC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Among all techniques,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performance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C-index of 0.87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superior predictive capability.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27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7C47FC5F-A450-1B10-EE06-46364EDB677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EA1C4C6-B69C-5910-1CC1-7FEB1D550092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8A1E876E-D119-E949-B1AE-B5D950D27414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7E13C1F4-46B1-7401-418D-3EF25D495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106" y="2743200"/>
            <a:ext cx="6914148" cy="4764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45585E-0AE2-7A86-8372-A4B9587E9A20}"/>
              </a:ext>
            </a:extLst>
          </p:cNvPr>
          <p:cNvSpPr txBox="1"/>
          <p:nvPr/>
        </p:nvSpPr>
        <p:spPr>
          <a:xfrm>
            <a:off x="1155031" y="2743200"/>
            <a:ext cx="8999622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bar chart compares the performance of different survival prediction models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C-index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models: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RSF,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SA-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C-index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(higher means better performance).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(0.87)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the best.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RSF (0.82)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gave good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(0.75)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better performance than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(0.65)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(0.62)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lower accuracy.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RSF models work best, while SA-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a fair balance with improved deep learning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864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6A61C80F-9838-4883-7B91-0F006D5BB4D4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67413D5-9D25-7903-A5EA-053991C6E820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054463B7-D1F9-658F-4522-3165A80ACDD6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475B7-2242-1CE8-85CB-CD0FF751B7E1}"/>
              </a:ext>
            </a:extLst>
          </p:cNvPr>
          <p:cNvSpPr txBox="1"/>
          <p:nvPr/>
        </p:nvSpPr>
        <p:spPr>
          <a:xfrm>
            <a:off x="428625" y="2571750"/>
            <a:ext cx="8567891" cy="6278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Conclusion</a:t>
            </a:r>
          </a:p>
          <a:p>
            <a:pPr marL="228600" indent="-228600">
              <a:buFont typeface="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analyzed and compared multiple survival prediction models —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RFS,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METABRIC breast cancer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CoxPH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accuracy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C-index = 0.87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proved effective for structured clinical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captured both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 and long-term feature dependencies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 layers and self-attention mechanisms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classical, machine learning, and deep learning approaches improved both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research demonstrates that deep attention-based models like SA-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support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survival prediction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decision-making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/>
            <a:endParaRPr lang="en-US" sz="24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71AC3-8D48-B313-E85C-7D894AA08AC6}"/>
              </a:ext>
            </a:extLst>
          </p:cNvPr>
          <p:cNvSpPr txBox="1"/>
          <p:nvPr/>
        </p:nvSpPr>
        <p:spPr>
          <a:xfrm>
            <a:off x="9483213" y="2571750"/>
            <a:ext cx="8008374" cy="7017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Future Scope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Multimodal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clinical, genomic, and imaging data for more comprehensive survival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Clinical Application: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the SA-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DGNet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decision-support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hospitals and healthcare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and hyperparameter tuning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performance on smaller or imbalanced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Improvements: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techniques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attention and gating outputs to improve clinical trust.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Cross-Disease Validation: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and evaluate the proposed framework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cancer types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lung, ovarian, or prostate) to test its generalization.</a:t>
            </a:r>
          </a:p>
          <a:p>
            <a:endParaRPr lang="en-US" sz="2400" b="1" dirty="0">
              <a:latin typeface="Times New Roman"/>
              <a:cs typeface="Times New Roman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503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FFD2D4C4-99CF-00E5-53D3-43EF9065FC70}"/>
              </a:ext>
            </a:extLst>
          </p:cNvPr>
          <p:cNvGrpSpPr/>
          <p:nvPr/>
        </p:nvGrpSpPr>
        <p:grpSpPr>
          <a:xfrm>
            <a:off x="1" y="1"/>
            <a:ext cx="18288000" cy="2367724"/>
            <a:chOff x="0" y="0"/>
            <a:chExt cx="24384000" cy="3156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06E0440-980D-3EF6-D598-DF48B7FED97D}"/>
                </a:ext>
              </a:extLst>
            </p:cNvPr>
            <p:cNvSpPr/>
            <p:nvPr/>
          </p:nvSpPr>
          <p:spPr>
            <a:xfrm>
              <a:off x="0" y="0"/>
              <a:ext cx="24384000" cy="3156966"/>
            </a:xfrm>
            <a:custGeom>
              <a:avLst/>
              <a:gdLst/>
              <a:ahLst/>
              <a:cxnLst/>
              <a:rect l="l" t="t" r="r" b="b"/>
              <a:pathLst>
                <a:path w="24384000" h="3156966">
                  <a:moveTo>
                    <a:pt x="0" y="0"/>
                  </a:moveTo>
                  <a:lnTo>
                    <a:pt x="24384000" y="0"/>
                  </a:lnTo>
                  <a:lnTo>
                    <a:pt x="24384000" y="3156966"/>
                  </a:lnTo>
                  <a:lnTo>
                    <a:pt x="0" y="315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232" b="-52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1CF3E668-1D3E-5B32-8B25-0D1A97ACAFA5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F2561-4D82-14AF-754B-2A301ECF01F2}"/>
              </a:ext>
            </a:extLst>
          </p:cNvPr>
          <p:cNvSpPr txBox="1"/>
          <p:nvPr/>
        </p:nvSpPr>
        <p:spPr>
          <a:xfrm>
            <a:off x="1285875" y="2571750"/>
            <a:ext cx="13446125" cy="63094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rtl="0"/>
            <a:r>
              <a:rPr lang="en-US" sz="2400" b="1" dirty="0">
                <a:latin typeface="Times New Roman"/>
                <a:ea typeface="Neue Haas Grotesk Text Pro"/>
                <a:cs typeface="Neue Haas Grotesk Text Pro"/>
              </a:rPr>
              <a:t> References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R. Cox, “Regression Models and Life-Tables (with Discussion),”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Royal Statistical Society: Series B (Methodological)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2, pp. 187–220, 1972.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H. Ishwaran, U. B.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Kogalur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H. Blackstone, and M. S. Lauer, “Random survival forests for R,”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Bioinformatics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4, pp. 673–679, 2007.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Katzman, U. Shaham, A. Cloninger, J. Bates, T. Jiang, and Y. Kluger,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DeepSurv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Personalized Treatment Recommender System Using a Cox Proportional Hazards Deep Neural Network,”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BMC Medical Research Methodology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24, pp. 1–12, 2018.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C. Lee, W. 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Yoon, and M. van der Schaar,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Deephit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deep learning approach to survival analysis with competing risks,” in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AAAI Conf. Artificial 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32, no. 1, pp. 2314–2321, 2018.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X. Yang and H. Qiu, “Deep Gated Neural Network With Self-Attention Mechanism for Survival Analysis,”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29, no. 1, pp. 105–115, 2025.</a:t>
            </a:r>
          </a:p>
          <a:p>
            <a:pPr marL="0" indent="-228600" rtl="0"/>
            <a:endParaRPr lang="en-US" dirty="0"/>
          </a:p>
          <a:p>
            <a:pPr marL="0" rtl="0"/>
            <a:r>
              <a:rPr lang="en-US" sz="2400" b="1" dirty="0">
                <a:latin typeface="Times New Roman"/>
                <a:ea typeface="Neue Haas Grotesk Text Pro"/>
                <a:cs typeface="Neue Haas Grotesk Text Pro"/>
              </a:rPr>
              <a:t>Acknowledgements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We sincerely thank our 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guide,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 Sekhar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Kolisetty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, Professor, Department of CSE, for his continuous guidance and encouragement.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We extend our gratitude to the 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Department of Computer Science and Engineering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, </a:t>
            </a:r>
            <a:r>
              <a:rPr lang="en-US" sz="2000" b="1" dirty="0" err="1">
                <a:latin typeface="Neue Haas Grotesk Text Pro"/>
                <a:ea typeface="Neue Haas Grotesk Text Pro"/>
                <a:cs typeface="Neue Haas Grotesk Text Pro"/>
              </a:rPr>
              <a:t>Narasaraopeta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 Engineering College (Autonomous)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 for providing the necessary support and facilities.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We also thank our </a:t>
            </a:r>
            <a:r>
              <a:rPr lang="en-US" sz="2000" b="1" dirty="0">
                <a:latin typeface="Neue Haas Grotesk Text Pro"/>
                <a:ea typeface="Neue Haas Grotesk Text Pro"/>
                <a:cs typeface="Neue Haas Grotesk Text Pro"/>
              </a:rPr>
              <a:t>friends and family members</a:t>
            </a:r>
            <a:r>
              <a:rPr lang="en-US" sz="2000" dirty="0">
                <a:latin typeface="Neue Haas Grotesk Text Pro"/>
                <a:ea typeface="Neue Haas Grotesk Text Pro"/>
                <a:cs typeface="Neue Haas Grotesk Text Pro"/>
              </a:rPr>
              <a:t> for their motivation and help throughout the project.</a:t>
            </a:r>
            <a:endParaRPr lang="en-US" sz="2000" dirty="0">
              <a:ea typeface="Calibri"/>
              <a:cs typeface="Calibri"/>
            </a:endParaRPr>
          </a:p>
          <a:p>
            <a:pPr marL="228600" indent="-2286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Finally, we would like to thank the INCOWOCO 2025 Conference Committee for giving us the opportunity to present our research work on such a prestigious platform</a:t>
            </a: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9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2FC43484-840B-5FE2-E7BE-3AE0C6E7D052}"/>
              </a:ext>
            </a:extLst>
          </p:cNvPr>
          <p:cNvSpPr/>
          <p:nvPr/>
        </p:nvSpPr>
        <p:spPr>
          <a:xfrm>
            <a:off x="152401" y="15240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06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77636F15-2124-DF9B-BE4D-588ECD163886}"/>
              </a:ext>
            </a:extLst>
          </p:cNvPr>
          <p:cNvSpPr/>
          <p:nvPr/>
        </p:nvSpPr>
        <p:spPr>
          <a:xfrm>
            <a:off x="1" y="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 descr="A logo for a company&#10;&#10;AI-generated content may be incorrect.">
            <a:extLst>
              <a:ext uri="{FF2B5EF4-FFF2-40B4-BE49-F238E27FC236}">
                <a16:creationId xmlns:a16="http://schemas.microsoft.com/office/drawing/2014/main" id="{0EC2D217-AD90-7CC4-7A03-64F835BDECD8}"/>
              </a:ext>
            </a:extLst>
          </p:cNvPr>
          <p:cNvSpPr/>
          <p:nvPr/>
        </p:nvSpPr>
        <p:spPr>
          <a:xfrm>
            <a:off x="152401" y="152401"/>
            <a:ext cx="18288000" cy="2367724"/>
          </a:xfrm>
          <a:custGeom>
            <a:avLst/>
            <a:gdLst/>
            <a:ahLst/>
            <a:cxnLst/>
            <a:rect l="l" t="t" r="r" b="b"/>
            <a:pathLst>
              <a:path w="24384000" h="3156966">
                <a:moveTo>
                  <a:pt x="0" y="0"/>
                </a:moveTo>
                <a:lnTo>
                  <a:pt x="24384000" y="0"/>
                </a:lnTo>
                <a:lnTo>
                  <a:pt x="24384000" y="3156966"/>
                </a:lnTo>
                <a:lnTo>
                  <a:pt x="0" y="315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32" b="-52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3" descr="A purple rectangle with white text&#10;&#10;AI-generated content may be incorrect.">
            <a:extLst>
              <a:ext uri="{FF2B5EF4-FFF2-40B4-BE49-F238E27FC236}">
                <a16:creationId xmlns:a16="http://schemas.microsoft.com/office/drawing/2014/main" id="{3407E3A2-9A95-D39C-E58C-4D32F59C98A5}"/>
              </a:ext>
            </a:extLst>
          </p:cNvPr>
          <p:cNvSpPr/>
          <p:nvPr/>
        </p:nvSpPr>
        <p:spPr>
          <a:xfrm>
            <a:off x="1" y="8863030"/>
            <a:ext cx="18288000" cy="1523524"/>
          </a:xfrm>
          <a:custGeom>
            <a:avLst/>
            <a:gdLst/>
            <a:ahLst/>
            <a:cxnLst/>
            <a:rect l="l" t="t" r="r" b="b"/>
            <a:pathLst>
              <a:path w="24384000" h="2031365">
                <a:moveTo>
                  <a:pt x="0" y="0"/>
                </a:moveTo>
                <a:lnTo>
                  <a:pt x="24384000" y="0"/>
                </a:lnTo>
                <a:lnTo>
                  <a:pt x="24384000" y="2031365"/>
                </a:lnTo>
                <a:lnTo>
                  <a:pt x="0" y="20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460" b="-1446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294EE-4894-5D36-F3E5-532026C8BCB5}"/>
              </a:ext>
            </a:extLst>
          </p:cNvPr>
          <p:cNvSpPr txBox="1"/>
          <p:nvPr/>
        </p:nvSpPr>
        <p:spPr>
          <a:xfrm>
            <a:off x="7305073" y="5113568"/>
            <a:ext cx="390066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Times New Roman"/>
                <a:ea typeface="Calibri"/>
                <a:cs typeface="Calibri"/>
              </a:rPr>
              <a:t>THANK YOU</a:t>
            </a:r>
            <a:endParaRPr lang="en-US" sz="44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49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1678</Words>
  <Application>Microsoft Office PowerPoint</Application>
  <PresentationFormat>Custom</PresentationFormat>
  <Paragraphs>166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Arial</vt:lpstr>
      <vt:lpstr>Neue Haas Grotesk Text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Participant template</dc:title>
  <dc:creator>Chandrika Tirumala</dc:creator>
  <cp:lastModifiedBy>chennupalli Chandrika Tirumala</cp:lastModifiedBy>
  <cp:revision>95</cp:revision>
  <dcterms:created xsi:type="dcterms:W3CDTF">2006-08-16T00:00:00Z</dcterms:created>
  <dcterms:modified xsi:type="dcterms:W3CDTF">2025-11-13T12:28:30Z</dcterms:modified>
  <dc:identifier>DAG4ZDko4pY</dc:identifier>
</cp:coreProperties>
</file>